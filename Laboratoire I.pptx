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B4D40A4-BF97-4EAE-99C8-B0D74E1C64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845DBAC-81AD-4E78-9B8A-F5CE48DFA19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6805362-A75D-4EB3-9C7D-30C534D61A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438F0B0-584E-463A-9DE9-5A479DB2953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F7476C-797D-4394-8910-2A0241FC667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CC67CF-DD22-4A4C-86D4-2FD711DA96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8894FC-8376-444D-B370-5C7388D46C5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6F2947-C7BD-4920-B5AA-E9A47A9F361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2A5A866-E586-4E1C-BBA8-434C3FC1E31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09B367C-D9E8-4C97-AB96-D5F283AB4C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4E0492-4699-4D18-AEEC-B5AA54A17A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F7F5"/>
          </a:solidFill>
          <a:ln>
            <a:solidFill>
              <a:srgbClr val="F4F7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0"/>
            <a:ext cx="200880" cy="6857640"/>
          </a:xfrm>
          <a:prstGeom prst="rect">
            <a:avLst/>
          </a:prstGeom>
          <a:solidFill>
            <a:srgbClr val="CD9E00"/>
          </a:solidFill>
          <a:ln>
            <a:solidFill>
              <a:srgbClr val="CD9E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731520" y="1143000"/>
            <a:ext cx="9875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100" b="1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Laboratoire 1 — Conception orientée objet</a:t>
            </a:r>
            <a:endParaRPr lang="fr-CA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749880" y="1993320"/>
            <a:ext cx="9143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6941"/>
                </a:solidFill>
                <a:effectLst/>
                <a:uFillTx/>
                <a:latin typeface="Aptos"/>
              </a:rPr>
              <a:t>Système universitaire • progression guidée</a:t>
            </a:r>
            <a:endParaRPr lang="fr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749880" y="5257800"/>
            <a:ext cx="685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Département de mathématiques et d’informatique</a:t>
            </a:r>
            <a:endParaRPr lang="fr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9784080" y="521208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06941"/>
                </a:solidFill>
                <a:effectLst/>
                <a:uFillTx/>
                <a:latin typeface="Aptos"/>
              </a:rPr>
              <a:t>UQTR</a:t>
            </a:r>
            <a:endParaRPr lang="fr-CA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CD9E00"/>
          </a:solidFill>
          <a:ln>
            <a:solidFill>
              <a:srgbClr val="CD9E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411480" y="651060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UQTR  •  Département de mathématiques et d’informatique</a:t>
            </a:r>
            <a:endParaRPr lang="fr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10561320" y="14616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6941"/>
                </a:solidFill>
                <a:effectLst/>
                <a:uFillTx/>
                <a:latin typeface="Aptos"/>
              </a:rPr>
              <a:t>UQTR</a:t>
            </a:r>
            <a:endParaRPr lang="fr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11567160" y="6492240"/>
            <a:ext cx="228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2</a:t>
            </a:r>
            <a:endParaRPr lang="fr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502920" y="38412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Objectifs et règles</a:t>
            </a:r>
            <a:endParaRPr lang="fr-CA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521280" y="932760"/>
            <a:ext cx="10423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Le laboratoire couvre progressivement l’intégralité du rappel OO.</a:t>
            </a:r>
            <a:endParaRPr lang="fr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822960" y="1417320"/>
            <a:ext cx="102409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Produire le diagramme de classes avant l’implémentation.</a:t>
            </a:r>
            <a:endParaRPr lang="fr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Utiliser des références d’objets : pas de base relationnelle ni d’ID artificiels.</a:t>
            </a:r>
            <a:endParaRPr lang="fr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Données de test écrites dans le code ; aucun menu utilisateur requis.</a:t>
            </a:r>
            <a:endParaRPr lang="fr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Valider chaque étape avec un main et de petites assertions/affichages.</a:t>
            </a:r>
            <a:endParaRPr lang="fr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Conserver un code compilable à la fin de chaque étape.</a:t>
            </a:r>
            <a:endParaRPr lang="fr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CD9E00"/>
          </a:solidFill>
          <a:ln>
            <a:solidFill>
              <a:srgbClr val="CD9E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411480" y="651060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UQTR  •  Département de mathématiques et d’informatique</a:t>
            </a:r>
            <a:endParaRPr lang="fr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10561320" y="14616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6941"/>
                </a:solidFill>
                <a:effectLst/>
                <a:uFillTx/>
                <a:latin typeface="Aptos"/>
              </a:rPr>
              <a:t>UQTR</a:t>
            </a:r>
            <a:endParaRPr lang="fr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11567160" y="6492240"/>
            <a:ext cx="228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3</a:t>
            </a:r>
            <a:endParaRPr lang="fr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5"/>
          <p:cNvSpPr/>
          <p:nvPr/>
        </p:nvSpPr>
        <p:spPr>
          <a:xfrm>
            <a:off x="502920" y="38412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Étape 1 — Modéliser le domaine</a:t>
            </a:r>
            <a:endParaRPr lang="fr-CA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6"/>
          <p:cNvSpPr/>
          <p:nvPr/>
        </p:nvSpPr>
        <p:spPr>
          <a:xfrm>
            <a:off x="521280" y="932760"/>
            <a:ext cx="10423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Livrable : diagramme UML initial.</a:t>
            </a:r>
            <a:endParaRPr lang="fr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7"/>
          <p:cNvSpPr/>
          <p:nvPr/>
        </p:nvSpPr>
        <p:spPr>
          <a:xfrm>
            <a:off x="731520" y="1325880"/>
            <a:ext cx="557748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Classes minimales : Person, Address, Student, Professor, Course, Registration.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Person : prénom, nom, date et lieu de naissance, Address.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Address : champs pertinents pour une adresse postale canadienne.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Course : code, titre, description, prérequis.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Registration : date, Course, note éventuelle.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Student et Professor spécialisent Person.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8"/>
          <p:cNvSpPr/>
          <p:nvPr/>
        </p:nvSpPr>
        <p:spPr>
          <a:xfrm>
            <a:off x="6720840" y="14173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06941"/>
                </a:solidFill>
                <a:effectLst/>
                <a:uFillTx/>
                <a:latin typeface="Aptos"/>
              </a:rPr>
              <a:t>Questions à résoudre</a:t>
            </a:r>
            <a:endParaRPr lang="fr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9"/>
          <p:cNvSpPr/>
          <p:nvPr/>
        </p:nvSpPr>
        <p:spPr>
          <a:xfrm>
            <a:off x="6720840" y="2057400"/>
            <a:ext cx="457164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Où doit vivre la note ?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Quel objet connaît les inscriptions ?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Un prérequis est-il un String ou un Course ?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Quelles multiplicités UML utiliser ?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CD9E00"/>
          </a:solidFill>
          <a:ln>
            <a:solidFill>
              <a:srgbClr val="CD9E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411480" y="651060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UQTR  •  Département de mathématiques et d’informatique</a:t>
            </a:r>
            <a:endParaRPr lang="fr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10561320" y="14616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6941"/>
                </a:solidFill>
                <a:effectLst/>
                <a:uFillTx/>
                <a:latin typeface="Aptos"/>
              </a:rPr>
              <a:t>UQTR</a:t>
            </a:r>
            <a:endParaRPr lang="fr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4"/>
          <p:cNvSpPr/>
          <p:nvPr/>
        </p:nvSpPr>
        <p:spPr>
          <a:xfrm>
            <a:off x="11567160" y="6492240"/>
            <a:ext cx="228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4</a:t>
            </a:r>
            <a:endParaRPr lang="fr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5"/>
          <p:cNvSpPr/>
          <p:nvPr/>
        </p:nvSpPr>
        <p:spPr>
          <a:xfrm>
            <a:off x="502920" y="38412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Étape 2 — Classes simples et invariants</a:t>
            </a:r>
            <a:endParaRPr lang="fr-CA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6"/>
          <p:cNvSpPr/>
          <p:nvPr/>
        </p:nvSpPr>
        <p:spPr>
          <a:xfrm>
            <a:off x="521280" y="932760"/>
            <a:ext cx="10423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Livrable : Address et Course testées.</a:t>
            </a:r>
            <a:endParaRPr lang="fr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7"/>
          <p:cNvSpPr/>
          <p:nvPr/>
        </p:nvSpPr>
        <p:spPr>
          <a:xfrm>
            <a:off x="777240" y="1417320"/>
            <a:ext cx="530316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Rendre les attributs private.</a:t>
            </a:r>
            <a:endParaRPr lang="fr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Utiliser des constructeurs qui créent des objets valides.</a:t>
            </a:r>
            <a:endParaRPr lang="fr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Choisir final lorsque l’attribut ne doit pas être réaffecté.</a:t>
            </a:r>
            <a:endParaRPr lang="fr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Valider au minimum : code de cours non vide, ville non vide.</a:t>
            </a:r>
            <a:endParaRPr lang="fr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Ajouter toString() utile pour les tests.</a:t>
            </a:r>
            <a:endParaRPr lang="fr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8"/>
          <p:cNvSpPr/>
          <p:nvPr/>
        </p:nvSpPr>
        <p:spPr>
          <a:xfrm>
            <a:off x="6446520" y="1600200"/>
            <a:ext cx="4845960" cy="2102760"/>
          </a:xfrm>
          <a:prstGeom prst="roundRect">
            <a:avLst>
              <a:gd name="adj" fmla="val 16667"/>
            </a:avLst>
          </a:prstGeom>
          <a:solidFill>
            <a:srgbClr val="22272B"/>
          </a:solidFill>
          <a:ln>
            <a:solidFill>
              <a:srgbClr val="22272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9"/>
          <p:cNvSpPr/>
          <p:nvPr/>
        </p:nvSpPr>
        <p:spPr>
          <a:xfrm>
            <a:off x="6675120" y="1764720"/>
            <a:ext cx="438876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EEF1EF"/>
                </a:solidFill>
                <a:effectLst/>
                <a:uFillTx/>
                <a:latin typeface="Aptos Mono"/>
              </a:rPr>
              <a:t>Course oop = new Course(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EEF1EF"/>
                </a:solidFill>
                <a:effectLst/>
                <a:uFillTx/>
                <a:latin typeface="Aptos Mono"/>
              </a:rPr>
              <a:t>    "INF1035",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EEF1EF"/>
                </a:solidFill>
                <a:effectLst/>
                <a:uFillTx/>
                <a:latin typeface="Aptos Mono"/>
              </a:rPr>
              <a:t>    "Concepts avancés en objet",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EEF1EF"/>
                </a:solidFill>
                <a:effectLst/>
                <a:uFillTx/>
                <a:latin typeface="Aptos Mono"/>
              </a:rPr>
              <a:t>    "..."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EEF1EF"/>
                </a:solidFill>
                <a:effectLst/>
                <a:uFillTx/>
                <a:latin typeface="Aptos Mono"/>
              </a:rPr>
              <a:t>);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6492240" y="4160520"/>
            <a:ext cx="4663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06941"/>
                </a:solidFill>
                <a:effectLst/>
                <a:uFillTx/>
                <a:latin typeface="Aptos"/>
              </a:rPr>
              <a:t>Test : essayez de créer un cours avec un code vide. Quel comportement attendez-vous ?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CD9E00"/>
          </a:solidFill>
          <a:ln>
            <a:solidFill>
              <a:srgbClr val="CD9E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411480" y="651060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UQTR  •  Département de mathématiques et d’informatique</a:t>
            </a:r>
            <a:endParaRPr lang="fr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10561320" y="14616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6941"/>
                </a:solidFill>
                <a:effectLst/>
                <a:uFillTx/>
                <a:latin typeface="Aptos"/>
              </a:rPr>
              <a:t>UQTR</a:t>
            </a:r>
            <a:endParaRPr lang="fr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4"/>
          <p:cNvSpPr/>
          <p:nvPr/>
        </p:nvSpPr>
        <p:spPr>
          <a:xfrm>
            <a:off x="11567160" y="6492240"/>
            <a:ext cx="228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5</a:t>
            </a:r>
            <a:endParaRPr lang="fr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5"/>
          <p:cNvSpPr/>
          <p:nvPr/>
        </p:nvSpPr>
        <p:spPr>
          <a:xfrm>
            <a:off x="502920" y="38412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Étape 3 — Composition et collections</a:t>
            </a:r>
            <a:endParaRPr lang="fr-CA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6"/>
          <p:cNvSpPr/>
          <p:nvPr/>
        </p:nvSpPr>
        <p:spPr>
          <a:xfrm>
            <a:off x="521280" y="932760"/>
            <a:ext cx="10423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Livrable : prérequis et inscriptions.</a:t>
            </a:r>
            <a:endParaRPr lang="fr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7"/>
          <p:cNvSpPr/>
          <p:nvPr/>
        </p:nvSpPr>
        <p:spPr>
          <a:xfrm>
            <a:off x="731520" y="1371600"/>
            <a:ext cx="5577480" cy="43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Course contient une List&lt;Course&gt; de prérequis.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Student contient une List&lt;Registration&gt;.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Registration référence un Course et porte la date + la note.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Ne retournez pas directement une collection modifiable si cela casse l’encapsulation.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Ajoutez les méthodes addPrerequisite(...) et register(...).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8"/>
          <p:cNvSpPr/>
          <p:nvPr/>
        </p:nvSpPr>
        <p:spPr>
          <a:xfrm>
            <a:off x="6858000" y="1417320"/>
            <a:ext cx="182844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69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Rounded Rectangle 9"/>
          <p:cNvSpPr/>
          <p:nvPr/>
        </p:nvSpPr>
        <p:spPr>
          <a:xfrm>
            <a:off x="6858000" y="1417320"/>
            <a:ext cx="1828440" cy="502560"/>
          </a:xfrm>
          <a:prstGeom prst="roundRect">
            <a:avLst>
              <a:gd name="adj" fmla="val 16667"/>
            </a:avLst>
          </a:prstGeom>
          <a:solidFill>
            <a:srgbClr val="006941"/>
          </a:solidFill>
          <a:ln>
            <a:solidFill>
              <a:srgbClr val="0069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6995160" y="152712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Student</a:t>
            </a:r>
            <a:endParaRPr lang="fr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1"/>
          <p:cNvSpPr/>
          <p:nvPr/>
        </p:nvSpPr>
        <p:spPr>
          <a:xfrm>
            <a:off x="7022520" y="2039040"/>
            <a:ext cx="1499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registrations</a:t>
            </a:r>
            <a:endParaRPr lang="fr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4" name="Connector 12"/>
          <p:cNvCxnSpPr/>
          <p:nvPr/>
        </p:nvCxnSpPr>
        <p:spPr>
          <a:xfrm>
            <a:off x="6967440" y="2295000"/>
            <a:ext cx="1609920" cy="360"/>
          </a:xfrm>
          <a:prstGeom prst="straightConnector1">
            <a:avLst/>
          </a:prstGeom>
          <a:ln>
            <a:solidFill>
              <a:srgbClr val="D2D7D4"/>
            </a:solidFill>
            <a:round/>
          </a:ln>
        </p:spPr>
      </p:cxnSp>
      <p:sp>
        <p:nvSpPr>
          <p:cNvPr id="105" name="TextBox 13"/>
          <p:cNvSpPr/>
          <p:nvPr/>
        </p:nvSpPr>
        <p:spPr>
          <a:xfrm>
            <a:off x="7022520" y="2404800"/>
            <a:ext cx="1499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55C84"/>
                </a:solidFill>
                <a:effectLst/>
                <a:uFillTx/>
                <a:latin typeface="Aptos"/>
              </a:rPr>
              <a:t>register()</a:t>
            </a:r>
            <a:endParaRPr lang="fr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14"/>
          <p:cNvSpPr/>
          <p:nvPr/>
        </p:nvSpPr>
        <p:spPr>
          <a:xfrm>
            <a:off x="9326880" y="1417320"/>
            <a:ext cx="182844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69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ounded Rectangle 15"/>
          <p:cNvSpPr/>
          <p:nvPr/>
        </p:nvSpPr>
        <p:spPr>
          <a:xfrm>
            <a:off x="9326880" y="1417320"/>
            <a:ext cx="1828440" cy="502560"/>
          </a:xfrm>
          <a:prstGeom prst="roundRect">
            <a:avLst>
              <a:gd name="adj" fmla="val 16667"/>
            </a:avLst>
          </a:prstGeom>
          <a:solidFill>
            <a:srgbClr val="006941"/>
          </a:solidFill>
          <a:ln>
            <a:solidFill>
              <a:srgbClr val="0069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16"/>
          <p:cNvSpPr/>
          <p:nvPr/>
        </p:nvSpPr>
        <p:spPr>
          <a:xfrm>
            <a:off x="9464040" y="152712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Registration</a:t>
            </a:r>
            <a:endParaRPr lang="fr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17"/>
          <p:cNvSpPr/>
          <p:nvPr/>
        </p:nvSpPr>
        <p:spPr>
          <a:xfrm>
            <a:off x="9491400" y="2039040"/>
            <a:ext cx="1499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course</a:t>
            </a:r>
            <a:endParaRPr lang="fr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18"/>
          <p:cNvSpPr/>
          <p:nvPr/>
        </p:nvSpPr>
        <p:spPr>
          <a:xfrm>
            <a:off x="9491400" y="2295000"/>
            <a:ext cx="1499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grade</a:t>
            </a:r>
            <a:endParaRPr lang="fr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1" name="Connector 19"/>
          <p:cNvCxnSpPr/>
          <p:nvPr/>
        </p:nvCxnSpPr>
        <p:spPr>
          <a:xfrm>
            <a:off x="9436320" y="2550960"/>
            <a:ext cx="1609920" cy="360"/>
          </a:xfrm>
          <a:prstGeom prst="straightConnector1">
            <a:avLst/>
          </a:prstGeom>
          <a:ln>
            <a:solidFill>
              <a:srgbClr val="D2D7D4"/>
            </a:solidFill>
            <a:round/>
          </a:ln>
        </p:spPr>
      </p:cxnSp>
      <p:sp>
        <p:nvSpPr>
          <p:cNvPr id="112" name="TextBox 20"/>
          <p:cNvSpPr/>
          <p:nvPr/>
        </p:nvSpPr>
        <p:spPr>
          <a:xfrm>
            <a:off x="9491400" y="2660760"/>
            <a:ext cx="1499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55C84"/>
                </a:solidFill>
                <a:effectLst/>
                <a:uFillTx/>
                <a:latin typeface="Aptos"/>
              </a:rPr>
              <a:t>passed()</a:t>
            </a:r>
            <a:endParaRPr lang="fr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3" name="Connector 21"/>
          <p:cNvCxnSpPr/>
          <p:nvPr/>
        </p:nvCxnSpPr>
        <p:spPr>
          <a:xfrm>
            <a:off x="8686800" y="2331720"/>
            <a:ext cx="640440" cy="360"/>
          </a:xfrm>
          <a:prstGeom prst="straightConnector1">
            <a:avLst/>
          </a:prstGeom>
          <a:ln>
            <a:solidFill>
              <a:srgbClr val="006941"/>
            </a:solidFill>
            <a:round/>
          </a:ln>
        </p:spPr>
      </p:cxnSp>
      <p:sp>
        <p:nvSpPr>
          <p:cNvPr id="114" name="TextBox 22"/>
          <p:cNvSpPr/>
          <p:nvPr/>
        </p:nvSpPr>
        <p:spPr>
          <a:xfrm>
            <a:off x="6812280" y="3840480"/>
            <a:ext cx="4480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06941"/>
                </a:solidFill>
                <a:effectLst/>
                <a:uFillTx/>
                <a:latin typeface="Aptos"/>
              </a:rPr>
              <a:t>Défi : empêcher deux inscriptions au même cours pour un même étudiant.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CD9E00"/>
          </a:solidFill>
          <a:ln>
            <a:solidFill>
              <a:srgbClr val="CD9E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411480" y="651060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UQTR  •  Département de mathématiques et d’informatique</a:t>
            </a:r>
            <a:endParaRPr lang="fr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10561320" y="14616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6941"/>
                </a:solidFill>
                <a:effectLst/>
                <a:uFillTx/>
                <a:latin typeface="Aptos"/>
              </a:rPr>
              <a:t>UQTR</a:t>
            </a:r>
            <a:endParaRPr lang="fr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4"/>
          <p:cNvSpPr/>
          <p:nvPr/>
        </p:nvSpPr>
        <p:spPr>
          <a:xfrm>
            <a:off x="11567160" y="6492240"/>
            <a:ext cx="228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6</a:t>
            </a:r>
            <a:endParaRPr lang="fr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5"/>
          <p:cNvSpPr/>
          <p:nvPr/>
        </p:nvSpPr>
        <p:spPr>
          <a:xfrm>
            <a:off x="502920" y="38412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Étape 4 — Héritage et comportement commun</a:t>
            </a:r>
            <a:endParaRPr lang="fr-CA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6"/>
          <p:cNvSpPr/>
          <p:nvPr/>
        </p:nvSpPr>
        <p:spPr>
          <a:xfrm>
            <a:off x="521280" y="932760"/>
            <a:ext cx="10423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Livrable : hiérarchie Person.</a:t>
            </a:r>
            <a:endParaRPr lang="fr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7"/>
          <p:cNvSpPr/>
          <p:nvPr/>
        </p:nvSpPr>
        <p:spPr>
          <a:xfrm>
            <a:off x="731520" y="1371600"/>
            <a:ext cx="566892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Person devient la classe générale de Student et Professor.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Déplacer dans Person uniquement les attributs réellement communs.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Appeler super(...) depuis les constructeurs des sous-classes.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Ajouter displayName() dans Person.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Redéfinir une méthode seulement si le comportement spécialisé le justifie.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8"/>
          <p:cNvSpPr/>
          <p:nvPr/>
        </p:nvSpPr>
        <p:spPr>
          <a:xfrm>
            <a:off x="8229600" y="1325880"/>
            <a:ext cx="2285640" cy="1645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69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Rounded Rectangle 9"/>
          <p:cNvSpPr/>
          <p:nvPr/>
        </p:nvSpPr>
        <p:spPr>
          <a:xfrm>
            <a:off x="8229600" y="1325880"/>
            <a:ext cx="2285640" cy="502560"/>
          </a:xfrm>
          <a:prstGeom prst="roundRect">
            <a:avLst>
              <a:gd name="adj" fmla="val 16667"/>
            </a:avLst>
          </a:prstGeom>
          <a:solidFill>
            <a:srgbClr val="006941"/>
          </a:solidFill>
          <a:ln>
            <a:solidFill>
              <a:srgbClr val="0069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8366760" y="143568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Person</a:t>
            </a:r>
            <a:endParaRPr lang="fr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11"/>
          <p:cNvSpPr/>
          <p:nvPr/>
        </p:nvSpPr>
        <p:spPr>
          <a:xfrm>
            <a:off x="8394120" y="1947600"/>
            <a:ext cx="1956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name</a:t>
            </a:r>
            <a:endParaRPr lang="fr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12"/>
          <p:cNvSpPr/>
          <p:nvPr/>
        </p:nvSpPr>
        <p:spPr>
          <a:xfrm>
            <a:off x="8394120" y="2203560"/>
            <a:ext cx="1956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address</a:t>
            </a:r>
            <a:endParaRPr lang="fr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7" name="Connector 13"/>
          <p:cNvCxnSpPr/>
          <p:nvPr/>
        </p:nvCxnSpPr>
        <p:spPr>
          <a:xfrm>
            <a:off x="8339040" y="2459520"/>
            <a:ext cx="2067120" cy="360"/>
          </a:xfrm>
          <a:prstGeom prst="straightConnector1">
            <a:avLst/>
          </a:prstGeom>
          <a:ln>
            <a:solidFill>
              <a:srgbClr val="D2D7D4"/>
            </a:solidFill>
            <a:round/>
          </a:ln>
        </p:spPr>
      </p:cxnSp>
      <p:sp>
        <p:nvSpPr>
          <p:cNvPr id="128" name="TextBox 14"/>
          <p:cNvSpPr/>
          <p:nvPr/>
        </p:nvSpPr>
        <p:spPr>
          <a:xfrm>
            <a:off x="8394120" y="2569320"/>
            <a:ext cx="1956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55C84"/>
                </a:solidFill>
                <a:effectLst/>
                <a:uFillTx/>
                <a:latin typeface="Aptos"/>
              </a:rPr>
              <a:t>displayName()</a:t>
            </a:r>
            <a:endParaRPr lang="fr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15"/>
          <p:cNvSpPr/>
          <p:nvPr/>
        </p:nvSpPr>
        <p:spPr>
          <a:xfrm>
            <a:off x="6583680" y="3749040"/>
            <a:ext cx="210276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69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Rounded Rectangle 16"/>
          <p:cNvSpPr/>
          <p:nvPr/>
        </p:nvSpPr>
        <p:spPr>
          <a:xfrm>
            <a:off x="6583680" y="3749040"/>
            <a:ext cx="2102760" cy="502560"/>
          </a:xfrm>
          <a:prstGeom prst="roundRect">
            <a:avLst>
              <a:gd name="adj" fmla="val 16667"/>
            </a:avLst>
          </a:prstGeom>
          <a:solidFill>
            <a:srgbClr val="006941"/>
          </a:solidFill>
          <a:ln>
            <a:solidFill>
              <a:srgbClr val="0069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17"/>
          <p:cNvSpPr/>
          <p:nvPr/>
        </p:nvSpPr>
        <p:spPr>
          <a:xfrm>
            <a:off x="6720840" y="38588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Student</a:t>
            </a:r>
            <a:endParaRPr lang="fr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8"/>
          <p:cNvSpPr/>
          <p:nvPr/>
        </p:nvSpPr>
        <p:spPr>
          <a:xfrm>
            <a:off x="6748200" y="4370760"/>
            <a:ext cx="1773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cp</a:t>
            </a:r>
            <a:endParaRPr lang="fr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3" name="Connector 19"/>
          <p:cNvCxnSpPr/>
          <p:nvPr/>
        </p:nvCxnSpPr>
        <p:spPr>
          <a:xfrm>
            <a:off x="6693120" y="4626720"/>
            <a:ext cx="1884240" cy="360"/>
          </a:xfrm>
          <a:prstGeom prst="straightConnector1">
            <a:avLst/>
          </a:prstGeom>
          <a:ln>
            <a:solidFill>
              <a:srgbClr val="D2D7D4"/>
            </a:solidFill>
            <a:round/>
          </a:ln>
        </p:spPr>
      </p:cxnSp>
      <p:sp>
        <p:nvSpPr>
          <p:cNvPr id="134" name="TextBox 20"/>
          <p:cNvSpPr/>
          <p:nvPr/>
        </p:nvSpPr>
        <p:spPr>
          <a:xfrm>
            <a:off x="6748200" y="4736520"/>
            <a:ext cx="1773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55C84"/>
                </a:solidFill>
                <a:effectLst/>
                <a:uFillTx/>
                <a:latin typeface="Aptos"/>
              </a:rPr>
              <a:t>average()</a:t>
            </a:r>
            <a:endParaRPr lang="fr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21"/>
          <p:cNvSpPr/>
          <p:nvPr/>
        </p:nvSpPr>
        <p:spPr>
          <a:xfrm>
            <a:off x="9966960" y="3749040"/>
            <a:ext cx="182844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69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Rounded Rectangle 22"/>
          <p:cNvSpPr/>
          <p:nvPr/>
        </p:nvSpPr>
        <p:spPr>
          <a:xfrm>
            <a:off x="9966960" y="3749040"/>
            <a:ext cx="1828440" cy="502560"/>
          </a:xfrm>
          <a:prstGeom prst="roundRect">
            <a:avLst>
              <a:gd name="adj" fmla="val 16667"/>
            </a:avLst>
          </a:prstGeom>
          <a:solidFill>
            <a:srgbClr val="006941"/>
          </a:solidFill>
          <a:ln>
            <a:solidFill>
              <a:srgbClr val="0069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23"/>
          <p:cNvSpPr/>
          <p:nvPr/>
        </p:nvSpPr>
        <p:spPr>
          <a:xfrm>
            <a:off x="10104120" y="385884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Professor</a:t>
            </a:r>
            <a:endParaRPr lang="fr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24"/>
          <p:cNvSpPr/>
          <p:nvPr/>
        </p:nvSpPr>
        <p:spPr>
          <a:xfrm>
            <a:off x="10131480" y="4370760"/>
            <a:ext cx="1499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employeeNo</a:t>
            </a:r>
            <a:endParaRPr lang="fr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9" name="Connector 25"/>
          <p:cNvCxnSpPr/>
          <p:nvPr/>
        </p:nvCxnSpPr>
        <p:spPr>
          <a:xfrm>
            <a:off x="10076400" y="4626720"/>
            <a:ext cx="1609920" cy="360"/>
          </a:xfrm>
          <a:prstGeom prst="straightConnector1">
            <a:avLst/>
          </a:prstGeom>
          <a:ln>
            <a:solidFill>
              <a:srgbClr val="D2D7D4"/>
            </a:solidFill>
            <a:round/>
          </a:ln>
        </p:spPr>
      </p:cxnSp>
      <p:sp>
        <p:nvSpPr>
          <p:cNvPr id="140" name="TextBox 26"/>
          <p:cNvSpPr/>
          <p:nvPr/>
        </p:nvSpPr>
        <p:spPr>
          <a:xfrm>
            <a:off x="10131480" y="4736520"/>
            <a:ext cx="1499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55C84"/>
                </a:solidFill>
                <a:effectLst/>
                <a:uFillTx/>
                <a:latin typeface="Aptos"/>
              </a:rPr>
              <a:t>teach()</a:t>
            </a:r>
            <a:endParaRPr lang="fr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1" name="Connector 27"/>
          <p:cNvCxnSpPr/>
          <p:nvPr/>
        </p:nvCxnSpPr>
        <p:spPr>
          <a:xfrm flipV="1">
            <a:off x="7635240" y="2971800"/>
            <a:ext cx="1234800" cy="777240"/>
          </a:xfrm>
          <a:prstGeom prst="straightConnector1">
            <a:avLst/>
          </a:prstGeom>
          <a:ln>
            <a:solidFill>
              <a:srgbClr val="646E69"/>
            </a:solidFill>
            <a:round/>
          </a:ln>
        </p:spPr>
      </p:cxnSp>
      <p:cxnSp>
        <p:nvCxnSpPr>
          <p:cNvPr id="142" name="Connector 28"/>
          <p:cNvCxnSpPr/>
          <p:nvPr/>
        </p:nvCxnSpPr>
        <p:spPr>
          <a:xfrm flipH="1" flipV="1">
            <a:off x="9875520" y="2971800"/>
            <a:ext cx="1006200" cy="777240"/>
          </a:xfrm>
          <a:prstGeom prst="straightConnector1">
            <a:avLst/>
          </a:prstGeom>
          <a:ln>
            <a:solidFill>
              <a:srgbClr val="646E69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CD9E00"/>
          </a:solidFill>
          <a:ln>
            <a:solidFill>
              <a:srgbClr val="CD9E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411480" y="651060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UQTR  •  Département de mathématiques et d’informatique</a:t>
            </a:r>
            <a:endParaRPr lang="fr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3"/>
          <p:cNvSpPr/>
          <p:nvPr/>
        </p:nvSpPr>
        <p:spPr>
          <a:xfrm>
            <a:off x="10561320" y="14616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6941"/>
                </a:solidFill>
                <a:effectLst/>
                <a:uFillTx/>
                <a:latin typeface="Aptos"/>
              </a:rPr>
              <a:t>UQTR</a:t>
            </a:r>
            <a:endParaRPr lang="fr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4"/>
          <p:cNvSpPr/>
          <p:nvPr/>
        </p:nvSpPr>
        <p:spPr>
          <a:xfrm>
            <a:off x="11567160" y="6492240"/>
            <a:ext cx="228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7</a:t>
            </a:r>
            <a:endParaRPr lang="fr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5"/>
          <p:cNvSpPr/>
          <p:nvPr/>
        </p:nvSpPr>
        <p:spPr>
          <a:xfrm>
            <a:off x="502920" y="38412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Étape 5 — Polymorphisme</a:t>
            </a:r>
            <a:endParaRPr lang="fr-CA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6"/>
          <p:cNvSpPr/>
          <p:nvPr/>
        </p:nvSpPr>
        <p:spPr>
          <a:xfrm>
            <a:off x="521280" y="932760"/>
            <a:ext cx="10423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Livrable : une liste hétérogène de Person.</a:t>
            </a:r>
            <a:endParaRPr lang="fr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ounded Rectangle 7"/>
          <p:cNvSpPr/>
          <p:nvPr/>
        </p:nvSpPr>
        <p:spPr>
          <a:xfrm>
            <a:off x="731520" y="1371600"/>
            <a:ext cx="5668920" cy="3382920"/>
          </a:xfrm>
          <a:prstGeom prst="roundRect">
            <a:avLst>
              <a:gd name="adj" fmla="val 16667"/>
            </a:avLst>
          </a:prstGeom>
          <a:solidFill>
            <a:srgbClr val="22272B"/>
          </a:solidFill>
          <a:ln>
            <a:solidFill>
              <a:srgbClr val="22272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8"/>
          <p:cNvSpPr/>
          <p:nvPr/>
        </p:nvSpPr>
        <p:spPr>
          <a:xfrm>
            <a:off x="960120" y="1536120"/>
            <a:ext cx="5211720" cy="30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EEF1EF"/>
                </a:solidFill>
                <a:effectLst/>
                <a:uFillTx/>
                <a:latin typeface="Aptos Mono"/>
              </a:rPr>
              <a:t>List&lt;Person&gt; people = new ArrayList&lt;&gt;();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EEF1EF"/>
                </a:solidFill>
                <a:effectLst/>
                <a:uFillTx/>
                <a:latin typeface="Aptos Mono"/>
              </a:rPr>
              <a:t>people.add(student);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EEF1EF"/>
                </a:solidFill>
                <a:effectLst/>
                <a:uFillTx/>
                <a:latin typeface="Aptos Mono"/>
              </a:rPr>
              <a:t>people.add(professor);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fr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EEF1EF"/>
                </a:solidFill>
                <a:effectLst/>
                <a:uFillTx/>
                <a:latin typeface="Aptos Mono"/>
              </a:rPr>
              <a:t>for (Person p : people) {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EEF1EF"/>
                </a:solidFill>
                <a:effectLst/>
                <a:uFillTx/>
                <a:latin typeface="Aptos Mono"/>
              </a:rPr>
              <a:t>    System.out.println(p.displayName());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EEF1EF"/>
                </a:solidFill>
                <a:effectLst/>
                <a:uFillTx/>
                <a:latin typeface="Aptos Mono"/>
              </a:rPr>
              <a:t>}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9"/>
          <p:cNvSpPr/>
          <p:nvPr/>
        </p:nvSpPr>
        <p:spPr>
          <a:xfrm>
            <a:off x="6812280" y="1417320"/>
            <a:ext cx="457164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Ajoutez au moins 2 Student et 2 Professor.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Faites redéfinir displayName() si vous souhaitez ajouter CP / titre.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Expliquez quelle version est appelée et pourquoi.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Identifiez type déclaré et type réel pour chaque appel.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CD9E00"/>
          </a:solidFill>
          <a:ln>
            <a:solidFill>
              <a:srgbClr val="CD9E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2"/>
          <p:cNvSpPr/>
          <p:nvPr/>
        </p:nvSpPr>
        <p:spPr>
          <a:xfrm>
            <a:off x="411480" y="651060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UQTR  •  Département de mathématiques et d’informatique</a:t>
            </a:r>
            <a:endParaRPr lang="fr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3"/>
          <p:cNvSpPr/>
          <p:nvPr/>
        </p:nvSpPr>
        <p:spPr>
          <a:xfrm>
            <a:off x="10561320" y="14616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6941"/>
                </a:solidFill>
                <a:effectLst/>
                <a:uFillTx/>
                <a:latin typeface="Aptos"/>
              </a:rPr>
              <a:t>UQTR</a:t>
            </a:r>
            <a:endParaRPr lang="fr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4"/>
          <p:cNvSpPr/>
          <p:nvPr/>
        </p:nvSpPr>
        <p:spPr>
          <a:xfrm>
            <a:off x="11567160" y="6492240"/>
            <a:ext cx="228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8</a:t>
            </a:r>
            <a:endParaRPr lang="fr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5"/>
          <p:cNvSpPr/>
          <p:nvPr/>
        </p:nvSpPr>
        <p:spPr>
          <a:xfrm>
            <a:off x="502920" y="38412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Étape 6 — Égalité logique</a:t>
            </a:r>
            <a:endParaRPr lang="fr-CA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6"/>
          <p:cNvSpPr/>
          <p:nvPr/>
        </p:nvSpPr>
        <p:spPr>
          <a:xfrm>
            <a:off x="521280" y="932760"/>
            <a:ext cx="10423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Livrable : equals() et hashCode() de Student.</a:t>
            </a:r>
            <a:endParaRPr lang="fr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7"/>
          <p:cNvSpPr/>
          <p:nvPr/>
        </p:nvSpPr>
        <p:spPr>
          <a:xfrm>
            <a:off x="731520" y="1371600"/>
            <a:ext cx="54860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Deux Student sont égaux si et seulement si leur CP est identique.</a:t>
            </a:r>
            <a:endParaRPr lang="fr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Redéfinir equals(Object) et hashCode().</a:t>
            </a:r>
            <a:endParaRPr lang="fr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Tester avec deux objets distincts ayant le même CP.</a:t>
            </a:r>
            <a:endParaRPr lang="fr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Ajouter ces objets dans un HashSet&lt;Student&gt; et observer la taille.</a:t>
            </a:r>
            <a:endParaRPr lang="fr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8"/>
          <p:cNvSpPr/>
          <p:nvPr/>
        </p:nvSpPr>
        <p:spPr>
          <a:xfrm>
            <a:off x="6492240" y="1645920"/>
            <a:ext cx="4845960" cy="2102760"/>
          </a:xfrm>
          <a:prstGeom prst="roundRect">
            <a:avLst>
              <a:gd name="adj" fmla="val 16667"/>
            </a:avLst>
          </a:prstGeom>
          <a:solidFill>
            <a:srgbClr val="22272B"/>
          </a:solidFill>
          <a:ln>
            <a:solidFill>
              <a:srgbClr val="22272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9"/>
          <p:cNvSpPr/>
          <p:nvPr/>
        </p:nvSpPr>
        <p:spPr>
          <a:xfrm>
            <a:off x="6720840" y="1810440"/>
            <a:ext cx="438876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EEF1EF"/>
                </a:solidFill>
                <a:effectLst/>
                <a:uFillTx/>
                <a:latin typeface="Aptos Mono"/>
              </a:rPr>
              <a:t>Student a = new Student(..., "123456");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EEF1EF"/>
                </a:solidFill>
                <a:effectLst/>
                <a:uFillTx/>
                <a:latin typeface="Aptos Mono"/>
              </a:rPr>
              <a:t>Student b = new Student(..., "123456");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fr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EEF1EF"/>
                </a:solidFill>
                <a:effectLst/>
                <a:uFillTx/>
                <a:latin typeface="Aptos Mono"/>
              </a:rPr>
              <a:t>System.out.println(a == b);      // ?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EEF1EF"/>
                </a:solidFill>
                <a:effectLst/>
                <a:uFillTx/>
                <a:latin typeface="Aptos Mono"/>
              </a:rPr>
              <a:t>System.out.println(a.equals(b)); // ?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CD9E00"/>
          </a:solidFill>
          <a:ln>
            <a:solidFill>
              <a:srgbClr val="CD9E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2"/>
          <p:cNvSpPr/>
          <p:nvPr/>
        </p:nvSpPr>
        <p:spPr>
          <a:xfrm>
            <a:off x="411480" y="651060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UQTR  •  Département de mathématiques et d’informatique</a:t>
            </a:r>
            <a:endParaRPr lang="fr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3"/>
          <p:cNvSpPr/>
          <p:nvPr/>
        </p:nvSpPr>
        <p:spPr>
          <a:xfrm>
            <a:off x="10561320" y="14616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6941"/>
                </a:solidFill>
                <a:effectLst/>
                <a:uFillTx/>
                <a:latin typeface="Aptos"/>
              </a:rPr>
              <a:t>UQTR</a:t>
            </a:r>
            <a:endParaRPr lang="fr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4"/>
          <p:cNvSpPr/>
          <p:nvPr/>
        </p:nvSpPr>
        <p:spPr>
          <a:xfrm>
            <a:off x="11567160" y="6492240"/>
            <a:ext cx="228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9</a:t>
            </a:r>
            <a:endParaRPr lang="fr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5"/>
          <p:cNvSpPr/>
          <p:nvPr/>
        </p:nvSpPr>
        <p:spPr>
          <a:xfrm>
            <a:off x="502920" y="38412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Étape 7 — Tri : Comparable et Comparator</a:t>
            </a:r>
            <a:endParaRPr lang="fr-CA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6"/>
          <p:cNvSpPr/>
          <p:nvPr/>
        </p:nvSpPr>
        <p:spPr>
          <a:xfrm>
            <a:off x="521280" y="932760"/>
            <a:ext cx="10423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Livrable : deux stratégies de tri.</a:t>
            </a:r>
            <a:endParaRPr lang="fr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7"/>
          <p:cNvSpPr/>
          <p:nvPr/>
        </p:nvSpPr>
        <p:spPr>
          <a:xfrm>
            <a:off x="731520" y="1325880"/>
            <a:ext cx="5577480" cy="43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Rendre Person comparable par nom puis prénom : Comparable&lt;Person&gt;.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Trier une List&lt;Person&gt; avec Collections.sort(...).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Ne pas changer l’ordre naturel de Student vers la moyenne.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Créer plutôt Comparator&lt;Student&gt; byAverage.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Créer un second Comparator&lt;Student&gt; byCp.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ounded Rectangle 8"/>
          <p:cNvSpPr/>
          <p:nvPr/>
        </p:nvSpPr>
        <p:spPr>
          <a:xfrm>
            <a:off x="6583680" y="1600200"/>
            <a:ext cx="4571640" cy="1828440"/>
          </a:xfrm>
          <a:prstGeom prst="roundRect">
            <a:avLst>
              <a:gd name="adj" fmla="val 16667"/>
            </a:avLst>
          </a:prstGeom>
          <a:solidFill>
            <a:srgbClr val="22272B"/>
          </a:solidFill>
          <a:ln>
            <a:solidFill>
              <a:srgbClr val="22272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9"/>
          <p:cNvSpPr/>
          <p:nvPr/>
        </p:nvSpPr>
        <p:spPr>
          <a:xfrm>
            <a:off x="6812280" y="1764720"/>
            <a:ext cx="411444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EEF1EF"/>
                </a:solidFill>
                <a:effectLst/>
                <a:uFillTx/>
                <a:latin typeface="Aptos Mono"/>
              </a:rPr>
              <a:t>students.sort(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EEF1EF"/>
                </a:solidFill>
                <a:effectLst/>
                <a:uFillTx/>
                <a:latin typeface="Aptos Mono"/>
              </a:rPr>
              <a:t>    Comparator.comparingDouble(Student::average)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EEF1EF"/>
                </a:solidFill>
                <a:effectLst/>
                <a:uFillTx/>
                <a:latin typeface="Aptos Mono"/>
              </a:rPr>
              <a:t>              .reversed()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EEF1EF"/>
                </a:solidFill>
                <a:effectLst/>
                <a:uFillTx/>
                <a:latin typeface="Aptos Mono"/>
              </a:rPr>
              <a:t>);</a:t>
            </a:r>
            <a:endParaRPr lang="fr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10"/>
          <p:cNvSpPr/>
          <p:nvPr/>
        </p:nvSpPr>
        <p:spPr>
          <a:xfrm>
            <a:off x="6629400" y="3931920"/>
            <a:ext cx="4480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06941"/>
                </a:solidFill>
                <a:effectLst/>
                <a:uFillTx/>
                <a:latin typeface="Aptos"/>
              </a:rPr>
              <a:t>Expliquez pourquoi Comparator est préférable lorsqu’on veut plusieurs ordres de tri.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CD9E00"/>
          </a:solidFill>
          <a:ln>
            <a:solidFill>
              <a:srgbClr val="CD9E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2"/>
          <p:cNvSpPr/>
          <p:nvPr/>
        </p:nvSpPr>
        <p:spPr>
          <a:xfrm>
            <a:off x="411480" y="651060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UQTR  •  Département de mathématiques et d’informatique</a:t>
            </a:r>
            <a:endParaRPr lang="fr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3"/>
          <p:cNvSpPr/>
          <p:nvPr/>
        </p:nvSpPr>
        <p:spPr>
          <a:xfrm>
            <a:off x="10561320" y="14616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6941"/>
                </a:solidFill>
                <a:effectLst/>
                <a:uFillTx/>
                <a:latin typeface="Aptos"/>
              </a:rPr>
              <a:t>UQTR</a:t>
            </a:r>
            <a:endParaRPr lang="fr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4"/>
          <p:cNvSpPr/>
          <p:nvPr/>
        </p:nvSpPr>
        <p:spPr>
          <a:xfrm>
            <a:off x="11567160" y="6492240"/>
            <a:ext cx="228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10</a:t>
            </a:r>
            <a:endParaRPr lang="fr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5"/>
          <p:cNvSpPr/>
          <p:nvPr/>
        </p:nvSpPr>
        <p:spPr>
          <a:xfrm>
            <a:off x="502920" y="38412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Étape 8 — Scénario d’intégration</a:t>
            </a:r>
            <a:endParaRPr lang="fr-CA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6"/>
          <p:cNvSpPr/>
          <p:nvPr/>
        </p:nvSpPr>
        <p:spPr>
          <a:xfrm>
            <a:off x="521280" y="932760"/>
            <a:ext cx="10423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Livrable : main démontrant tout le modèle.</a:t>
            </a:r>
            <a:endParaRPr lang="fr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7"/>
          <p:cNvSpPr/>
          <p:nvPr/>
        </p:nvSpPr>
        <p:spPr>
          <a:xfrm>
            <a:off x="822960" y="1280160"/>
            <a:ext cx="1024092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Créer au moins 4 cours, dont 2 avec prérequis.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Créer 3 étudiants et 2 professeurs avec adresses.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Créer plusieurs inscriptions et notes.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Afficher la moyenne de chaque étudiant.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Afficher les personnes triées par nom.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Afficher les étudiants triés par moyenne décroissante.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Tester égalité/HashSet avec deux Student de même CP.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Montrer au moins un appel polymorphe via Person.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CD9E00"/>
          </a:solidFill>
          <a:ln>
            <a:solidFill>
              <a:srgbClr val="CD9E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2"/>
          <p:cNvSpPr/>
          <p:nvPr/>
        </p:nvSpPr>
        <p:spPr>
          <a:xfrm>
            <a:off x="411480" y="651060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UQTR  •  Département de mathématiques et d’informatique</a:t>
            </a:r>
            <a:endParaRPr lang="fr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3"/>
          <p:cNvSpPr/>
          <p:nvPr/>
        </p:nvSpPr>
        <p:spPr>
          <a:xfrm>
            <a:off x="10561320" y="14616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6941"/>
                </a:solidFill>
                <a:effectLst/>
                <a:uFillTx/>
                <a:latin typeface="Aptos"/>
              </a:rPr>
              <a:t>UQTR</a:t>
            </a:r>
            <a:endParaRPr lang="fr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4"/>
          <p:cNvSpPr/>
          <p:nvPr/>
        </p:nvSpPr>
        <p:spPr>
          <a:xfrm>
            <a:off x="11567160" y="6492240"/>
            <a:ext cx="228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11</a:t>
            </a:r>
            <a:endParaRPr lang="fr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5"/>
          <p:cNvSpPr/>
          <p:nvPr/>
        </p:nvSpPr>
        <p:spPr>
          <a:xfrm>
            <a:off x="502920" y="38412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Étape 9 — Questions de justification</a:t>
            </a:r>
            <a:endParaRPr lang="fr-CA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6"/>
          <p:cNvSpPr/>
          <p:nvPr/>
        </p:nvSpPr>
        <p:spPr>
          <a:xfrm>
            <a:off x="521280" y="932760"/>
            <a:ext cx="10423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À remettre avec le code : réponses courtes (2–4 phrases chacune).</a:t>
            </a:r>
            <a:endParaRPr lang="fr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7"/>
          <p:cNvSpPr/>
          <p:nvPr/>
        </p:nvSpPr>
        <p:spPr>
          <a:xfrm>
            <a:off x="777240" y="123444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Pourquoi Registration est-elle une classe plutôt qu’une simple List&lt;Course&gt; dans Student ?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Pourquoi Address est-elle en composition avec Person plutôt qu’en héritage ?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Quelle différence observez-vous entre == et equals() ?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Pourquoi hashCode() doit-il être cohérent avec equals() ?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Pourquoi List&lt;Person&gt; peut contenir Student et Professor ?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Pourquoi Comparator&lt;Student&gt; est-il préférable à une redéfinition différente de compareTo() dans Student ?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Donnez un exemple d’invariant protégé par votre encapsulation.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CD9E00"/>
          </a:solidFill>
          <a:ln>
            <a:solidFill>
              <a:srgbClr val="CD9E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2"/>
          <p:cNvSpPr/>
          <p:nvPr/>
        </p:nvSpPr>
        <p:spPr>
          <a:xfrm>
            <a:off x="411480" y="651060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UQTR  •  Département de mathématiques et d’informatique</a:t>
            </a:r>
            <a:endParaRPr lang="fr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3"/>
          <p:cNvSpPr/>
          <p:nvPr/>
        </p:nvSpPr>
        <p:spPr>
          <a:xfrm>
            <a:off x="10561320" y="14616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6941"/>
                </a:solidFill>
                <a:effectLst/>
                <a:uFillTx/>
                <a:latin typeface="Aptos"/>
              </a:rPr>
              <a:t>UQTR</a:t>
            </a:r>
            <a:endParaRPr lang="fr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4"/>
          <p:cNvSpPr/>
          <p:nvPr/>
        </p:nvSpPr>
        <p:spPr>
          <a:xfrm>
            <a:off x="11567160" y="6492240"/>
            <a:ext cx="228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12</a:t>
            </a:r>
            <a:endParaRPr lang="fr-C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5"/>
          <p:cNvSpPr/>
          <p:nvPr/>
        </p:nvSpPr>
        <p:spPr>
          <a:xfrm>
            <a:off x="502920" y="38412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Critères de réussite</a:t>
            </a:r>
            <a:endParaRPr lang="fr-CA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6"/>
          <p:cNvSpPr/>
          <p:nvPr/>
        </p:nvSpPr>
        <p:spPr>
          <a:xfrm>
            <a:off x="521280" y="932760"/>
            <a:ext cx="10423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46E69"/>
                </a:solidFill>
                <a:effectLst/>
                <a:uFillTx/>
                <a:latin typeface="Aptos"/>
              </a:rPr>
              <a:t>Auto-évaluation avant de remettre.</a:t>
            </a:r>
            <a:endParaRPr lang="fr-C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7"/>
          <p:cNvSpPr/>
          <p:nvPr/>
        </p:nvSpPr>
        <p:spPr>
          <a:xfrm>
            <a:off x="822960" y="1280160"/>
            <a:ext cx="10240920" cy="48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□ Le diagramme UML correspond au code final.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□ Les attributs sont encapsulés et les constructeurs maintiennent les invariants.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□ Les collections utilisent les génériques et des interfaces (List, Set…).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□ Composition et héritage sont utilisés à bon escient.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□ Le polymorphisme est démontré dans un scénario réel.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□ equals/hashCode fonctionnent dans HashSet.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□ Comparable et Comparator produisent les tris attendus.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20262B"/>
                </a:solidFill>
                <a:effectLst/>
                <a:uFillTx/>
                <a:latin typeface="Aptos"/>
              </a:rPr>
              <a:t>□ Le main permet de vérifier toutes les fonctionnalités sans saisie utilisateur.</a:t>
            </a:r>
            <a:endParaRPr lang="fr-C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LibreOffice/26.2.5.2$Windows_X86_64 LibreOffice_project/cd7284b4cbbfeb507e630c1aac019f4157393acb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fr-CA</dc:language>
  <cp:lastModifiedBy/>
  <dcterms:modified xsi:type="dcterms:W3CDTF">2026-09-13T18:53:30Z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